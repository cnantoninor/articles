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viewProps" Target="viewProps.xml" /><Relationship Id="rId3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5" Type="http://schemas.openxmlformats.org/officeDocument/2006/relationships/tableStyles" Target="tableStyles.xml" /><Relationship Id="rId3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Trade-offs in LLM-Assisted Development: IRIS Learnings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Trade-offs in LLM-Assisted Development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IRIS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Conscious Positioning on the Epistemic Debt/AI Blazing Speed/Quality Triangle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Ask an engineer in 2020 why their code works: “I chose this algorithm because…, implemented it this way because…”</a:t>
            </a:r>
          </a:p>
          <a:p>
            <a:pPr lvl="0" indent="0" marL="1270000">
              <a:buNone/>
            </a:pPr>
            <a:r>
              <a:rPr sz="2000"/>
              <a:t>Ask an engineer in 2025: “The LLM suggested it, the tests pass, looks good. Can you please review this 5,000 LOC PR?”</a:t>
            </a:r>
          </a:p>
          <a:p>
            <a:pPr lvl="0" indent="0" marL="0">
              <a:buNone/>
            </a:pPr>
            <a:r>
              <a:rPr b="1"/>
              <a:t>Same confidence. Different warrants and (epistemic) debt.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Epistemic Debt: The New Technical Debt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Comparison to familiar concept: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Technical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Epistemic Debt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that works but is hard to change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that works but nobody understands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 maintenance cost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Future comprehension cost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Visible in code structure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Invisible until crisis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Critical difference in LLM era:</a:t>
            </a:r>
            <a:r>
              <a:rPr/>
              <a:t> - Pre-LLM: Epistemic gaps were </a:t>
            </a:r>
            <a:r>
              <a:rPr b="1"/>
              <a:t>localized</a:t>
            </a:r>
            <a:r>
              <a:rPr/>
              <a:t>, </a:t>
            </a:r>
            <a:r>
              <a:rPr b="1"/>
              <a:t>visible</a:t>
            </a:r>
            <a:r>
              <a:rPr/>
              <a:t>, </a:t>
            </a:r>
            <a:r>
              <a:rPr b="1"/>
              <a:t>socially stigmatized</a:t>
            </a:r>
            <a:r>
              <a:rPr/>
              <a:t> - With LLMs: Debt accumulates at </a:t>
            </a:r>
            <a:r>
              <a:rPr b="1"/>
              <a:t>scale</a:t>
            </a:r>
            <a:r>
              <a:rPr/>
              <a:t>, remains </a:t>
            </a:r>
            <a:r>
              <a:rPr b="1"/>
              <a:t>invisible</a:t>
            </a:r>
            <a:r>
              <a:rPr/>
              <a:t>, feels </a:t>
            </a:r>
            <a:r>
              <a:rPr b="1"/>
              <a:t>productive</a:t>
            </a:r>
          </a:p>
          <a:p>
            <a:pPr lvl="0" indent="0" marL="0">
              <a:buNone/>
            </a:pPr>
            <a:r>
              <a:rPr b="1"/>
              <a:t>The problem isn’t that LLMs generate bad code—it’s that they generate working code faster than we can understand it.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Trade-off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qualities you can optimize for: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UNDERSTANDING
                   (Epistemic Credit)
                           ▲
                          /·\
                         / · \
                        /  ·  \
                       /   ●   \         ← Unguarded AI Use
                      /   /·\   \           (Pure Vibe Coding)
                     /   / · \   \
                    /   /  ·  \   \
                   /   ↙   ·   ↘   \
                  / DDD    ·    TDD  \     ← Strategy forces
                 /  ║      ·     ║    \      pull toward corners
                /   ║      ·     ║ ╳   \
               /    ║      ·     ╳      \  ← ╳ TRAP: Circular
              /     ↘      ·     ↙       \      Validation
             /       ↘     ·    ↙         \
            /         ↘    ●   ↙           \
           /        Conscious               \
          /        Trade-off                 \
         /           Zone                     \
        ▼─────────────────●────────────────────▼
      SPEED                              RELIABILITY
 (Velocity)                        (Verified Correctness)</a:t>
            </a:r>
          </a:p>
          <a:p>
            <a:pPr lvl="0" indent="0" marL="0">
              <a:buNone/>
            </a:pPr>
            <a:r>
              <a:rPr b="1"/>
              <a:t>Reading the triangle:</a:t>
            </a:r>
            <a:r>
              <a:rPr/>
              <a:t> - </a:t>
            </a:r>
            <a:r>
              <a:rPr b="1"/>
              <a:t>Corners</a:t>
            </a:r>
            <a:r>
              <a:rPr/>
              <a:t> = the three qualities you can optimize - </a:t>
            </a:r>
            <a:r>
              <a:rPr b="1"/>
              <a:t>Position</a:t>
            </a:r>
            <a:r>
              <a:rPr/>
              <a:t> = what you’re trading off - </a:t>
            </a:r>
            <a:r>
              <a:rPr b="1"/>
              <a:t>Arrows</a:t>
            </a:r>
            <a:r>
              <a:rPr/>
              <a:t> = how strategies pull your position - </a:t>
            </a:r>
            <a:r>
              <a:rPr b="1"/>
              <a:t>╳</a:t>
            </a:r>
            <a:r>
              <a:rPr/>
              <a:t> = traps that give false confidence</a:t>
            </a:r>
          </a:p>
          <a:p>
            <a:pPr lvl="0" indent="0" marL="0">
              <a:buNone/>
            </a:pPr>
            <a:r>
              <a:rPr b="1"/>
              <a:t>Key relationships:</a:t>
            </a:r>
            <a:r>
              <a:rPr/>
              <a:t> - </a:t>
            </a:r>
            <a:r>
              <a:rPr b="1"/>
              <a:t>Understanding ↔ Speed</a:t>
            </a:r>
            <a:r>
              <a:rPr/>
              <a:t>: Trade-off (inverse) - </a:t>
            </a:r>
            <a:r>
              <a:rPr b="1"/>
              <a:t>Speed ↔ Reliability</a:t>
            </a:r>
            <a:r>
              <a:rPr/>
              <a:t>: Tension (can conflict) - </a:t>
            </a:r>
            <a:r>
              <a:rPr b="1"/>
              <a:t>Reliability ↔ Understanding</a:t>
            </a:r>
            <a:r>
              <a:rPr/>
              <a:t>: Synergy (mutually reinforcing)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Defining the Debt/Credit Dynamic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Two sides of the same coin:</a:t>
                </a:r>
              </a:p>
              <a:p>
                <a:pPr lvl="0" indent="0" marL="0">
                  <a:buNone/>
                </a:pPr>
                <a:r>
                  <a:rPr b="1"/>
                  <a:t>Epistemic Debt (De)</a:t>
                </a:r>
                <a:r>
                  <a:rPr/>
                  <a:t> = accumulated gap when complexity outpaces understanding: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D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C</m:t>
                              </m:r>
                              <m:r>
                                <m:t>s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G</m:t>
                              </m:r>
                              <m:r>
                                <m:t>c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m:t> </m:t>
                      </m:r>
                      <m:r>
                        <m:t>d</m:t>
                      </m:r>
                      <m:r>
                        <m:t>t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Epistemic Credit (Ce)</a:t>
                </a:r>
                <a:r>
                  <a:rPr/>
                  <a:t> = accumulated surplus when understanding exceeds complexity: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T</m:t>
                          </m:r>
                        </m: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m:t>G</m:t>
                              </m:r>
                              <m:r>
                                <m:t>c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t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C</m:t>
                              </m:r>
                              <m:r>
                                <m:t>s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m:t>t</m:t>
                                  </m:r>
                                </m:e>
                              </m:d>
                            </m:e>
                          </m:d>
                        </m:e>
                      </m:nary>
                      <m:r>
                        <m:t> </m:t>
                      </m:r>
                      <m:r>
                        <m:t>d</m:t>
                      </m:r>
                      <m:r>
                        <m:t>t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 - </a:t>
                </a:r>
                <a:r>
                  <a:rPr b="1"/>
                  <a:t>Gc(t)</a:t>
                </a:r>
                <a:r>
                  <a:rPr/>
                  <a:t> = Cognitive Grasp of the team at time t - </a:t>
                </a:r>
                <a:r>
                  <a:rPr b="1"/>
                  <a:t>Cs(t)</a:t>
                </a:r>
                <a:r>
                  <a:rPr/>
                  <a:t> = System Complexity at time t</a:t>
                </a:r>
              </a:p>
              <a:p>
                <a:pPr lvl="0" indent="0" marL="0">
                  <a:buNone/>
                </a:pPr>
                <a:r>
                  <a:rPr b="1"/>
                  <a:t>The inversion:</a:t>
                </a:r>
                <a:r>
                  <a:rPr/>
                  <a:t> - When Cs(t) &gt; Gc(t): You’re accumulating </a:t>
                </a:r>
                <a:r>
                  <a:rPr b="1"/>
                  <a:t>debt</a:t>
                </a:r>
                <a:r>
                  <a:rPr/>
                  <a:t> (code you don’t understand) - When Gc(t) &gt; Cs(t): You’re building </a:t>
                </a:r>
                <a:r>
                  <a:rPr b="1"/>
                  <a:t>credit</a:t>
                </a:r>
                <a:r>
                  <a:rPr/>
                  <a:t> (understanding surplus)</a:t>
                </a:r>
              </a:p>
              <a:p>
                <a:pPr lvl="0" indent="0" marL="0">
                  <a:buNone/>
                </a:pPr>
                <a:r>
                  <a:rPr b="1"/>
                  <a:t>Context matters</a:t>
                </a:r>
                <a:r>
                  <a:rPr/>
                  <a:t>: Same practice yields different outcomes based on domain complexity and team grasp.</a:t>
                </a:r>
              </a:p>
              <a:p>
                <a:pPr lvl="0" indent="0" marL="0">
                  <a:buNone/>
                </a:pPr>
                <a:r>
                  <a:rPr i="1"/>
                  <a:t>Source: Ngabang (2026), “The Illusion of Competence”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Strategy Forces: How to Move on the Triangle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Different practices </a:t>
            </a:r>
            <a:r>
              <a:rPr b="1"/>
              <a:t>pull</a:t>
            </a:r>
            <a:r>
              <a:rPr/>
              <a:t> your position toward different vertices: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Pull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Effect on Epistemic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Risk/Trap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DDD</a:t>
                      </a:r>
                      <a:r>
                        <a:rPr/>
                        <a:t> (ubiquitous language)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→ Understanding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Builds ownership, doesn’t verify correctness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Terminology drift if not enforced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TDD</a:t>
                      </a:r>
                      <a:r>
                        <a:rPr/>
                        <a:t> (esp. integration tests)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→ Reliability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Verifies correctness, slight ownership gain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Circular validation if LLM-generated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Human-in-loop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→ Both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Ensures alignment + catches blind spots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Rubber-stamping if reviewer doesn’t understand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Structured Workflow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Amplifies 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Meta-strategy enabling sustainable AI use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insight:</a:t>
            </a:r>
            <a:r>
              <a:rPr/>
              <a:t> You can’t maximize all three simultaneously. Choose your position based on domain criticality.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IRIS 1.0: Development Metrics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** Almost-Solo development with disciplined AI assistance:**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Team 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Solo developer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 Assistance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 manual 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Cursor, Claude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Project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Internal tool - brand new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Main Language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Components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CLI, Lib API, Web app, multiple storage systems, multiple external systems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Time to Production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Would have taken 4-6 months without AI assistance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Velocity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~5,000 LOC/week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vs. typical 400-800 LOC/week baseline from studies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~40% of codebase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Excluding comments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&gt;85%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Including 30+ real E2E integration tests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</a:t>
            </a:r>
            <a:r>
              <a:rPr/>
              <a:t>: Structured AI-assisted workflow with strong guardrails, domain modeling, continuous validation (pre-push hooks), and tight feedback loops.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Conscious positioning in mid/lower-triangle zone (epistemic credit + quality emphasis).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Vertex: DDD in 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Bounded contexts</a:t>
            </a:r>
            <a:r>
              <a:rPr/>
              <a:t> — 5 glob-activated context files: - </a:t>
            </a:r>
            <a:r>
              <a:rPr>
                <a:latin typeface="Courier"/>
              </a:rPr>
              <a:t>.cursor/rules/*.mdc</a:t>
            </a:r>
            <a:r>
              <a:rPr/>
              <a:t> (general, experiments, datasets, cli, application, testing) - Each activates based on working directory</a:t>
            </a:r>
          </a:p>
          <a:p>
            <a:pPr lvl="0" indent="0" marL="0">
              <a:buNone/>
            </a:pPr>
            <a:r>
              <a:rPr b="1"/>
              <a:t>Ubiquitous language</a:t>
            </a:r>
            <a:r>
              <a:rPr/>
              <a:t> — Domain types in code: - </a:t>
            </a:r>
            <a:r>
              <a:rPr>
                <a:latin typeface="Courier"/>
              </a:rPr>
              <a:t>constants.py</a:t>
            </a:r>
            <a:r>
              <a:rPr/>
              <a:t>: </a:t>
            </a:r>
            <a:r>
              <a:rPr>
                <a:latin typeface="Courier"/>
              </a:rPr>
              <a:t>EvaluatorTypes</a:t>
            </a:r>
            <a:r>
              <a:rPr/>
              <a:t>, </a:t>
            </a:r>
            <a:r>
              <a:rPr>
                <a:latin typeface="Courier"/>
              </a:rPr>
              <a:t>DatasetFiles</a:t>
            </a:r>
            <a:r>
              <a:rPr/>
              <a:t> - LLM output uses domain vocabulary, not generic names</a:t>
            </a:r>
          </a:p>
          <a:p>
            <a:pPr lvl="0" indent="0" marL="0">
              <a:buNone/>
            </a:pPr>
            <a:r>
              <a:rPr b="1"/>
              <a:t>Business rules as constraints</a:t>
            </a:r>
            <a:r>
              <a:rPr/>
              <a:t> — Enforced in context: - </a:t>
            </a:r>
            <a:r>
              <a:rPr>
                <a:latin typeface="Courier"/>
              </a:rPr>
              <a:t>experiments.mdc</a:t>
            </a:r>
            <a:r>
              <a:rPr/>
              <a:t>: “Experiment MUST have control variant”</a:t>
            </a:r>
          </a:p>
          <a:p>
            <a:pPr lvl="0" indent="0" marL="0">
              <a:buNone/>
            </a:pPr>
            <a:r>
              <a:rPr b="1"/>
              <a:t>Impact</a:t>
            </a:r>
            <a:r>
              <a:rPr/>
              <a:t>: LLM output aligns with domain boundaries → raises Gc(t) faster than Cs(t) grows → positive epistemic credit accumulation.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DDD Pattern: Why It Builds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General principle beyond IRIS:</a:t>
            </a:r>
          </a:p>
          <a:p>
            <a:pPr lvl="0" indent="0" marL="0">
              <a:buNone/>
            </a:pPr>
            <a:r>
              <a:rPr/>
              <a:t>Domain-Driven Design creates epistemic credit through:</a:t>
            </a:r>
          </a:p>
          <a:p>
            <a:pPr lvl="0" indent="-342900" marL="342900">
              <a:buAutoNum type="arabicPeriod"/>
            </a:pPr>
            <a:r>
              <a:rPr b="1"/>
              <a:t>Bounded Contexts</a:t>
            </a:r>
            <a:r>
              <a:rPr/>
              <a:t> — Limits scope LLM needs to understand at once</a:t>
            </a:r>
          </a:p>
          <a:p>
            <a:pPr lvl="0" indent="-342900" marL="342900">
              <a:buAutoNum type="arabicPeriod"/>
            </a:pPr>
            <a:r>
              <a:rPr b="1"/>
              <a:t>Ubiquitous Language</a:t>
            </a:r>
            <a:r>
              <a:rPr/>
              <a:t> — Shared vocabulary between team, domain experts, and LLM</a:t>
            </a:r>
          </a:p>
          <a:p>
            <a:pPr lvl="0" indent="-342900" marL="342900">
              <a:buAutoNum type="arabicPeriod"/>
            </a:pPr>
            <a:r>
              <a:rPr b="1"/>
              <a:t>Business Rules as Constraints</a:t>
            </a:r>
            <a:r>
              <a:rPr/>
              <a:t> — Explicit encoding prevents LLM from generating “plausible but wrong” code</a:t>
            </a:r>
          </a:p>
          <a:p>
            <a:pPr lvl="0" indent="0" marL="0">
              <a:buNone/>
            </a:pPr>
            <a:r>
              <a:rPr b="1"/>
              <a:t>The mechanism:</a:t>
            </a:r>
            <a:r>
              <a:rPr/>
              <a:t> - Without DDD: LLM generates generic variable names, you translate mentally - With DDD: LLM uses </a:t>
            </a:r>
            <a:r>
              <a:rPr>
                <a:latin typeface="Courier"/>
              </a:rPr>
              <a:t>ExperimentVariant</a:t>
            </a:r>
            <a:r>
              <a:rPr/>
              <a:t> not </a:t>
            </a:r>
            <a:r>
              <a:rPr>
                <a:latin typeface="Courier"/>
              </a:rPr>
              <a:t>item</a:t>
            </a:r>
            <a:r>
              <a:rPr/>
              <a:t>, </a:t>
            </a:r>
            <a:r>
              <a:rPr>
                <a:latin typeface="Courier"/>
              </a:rPr>
              <a:t>ControlGroup</a:t>
            </a:r>
            <a:r>
              <a:rPr/>
              <a:t> not </a:t>
            </a:r>
            <a:r>
              <a:rPr>
                <a:latin typeface="Courier"/>
              </a:rPr>
              <a:t>default</a:t>
            </a:r>
            <a:r>
              <a:rPr/>
              <a:t> - Result: Code reads like domain documentation → Understanding persists</a:t>
            </a:r>
          </a:p>
          <a:p>
            <a:pPr lvl="0" indent="0" marL="0">
              <a:buNone/>
            </a:pPr>
            <a:r>
              <a:rPr b="1"/>
              <a:t>Trade-off:</a:t>
            </a:r>
            <a:r>
              <a:rPr/>
              <a:t> Slower initial setup, ongoing terminology discipline required.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Reliability Vertex: Human Tests in 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Human-authored E2E test</a:t>
            </a:r>
            <a:r>
              <a:rPr/>
              <a:t> — The circular validation breaker: - </a:t>
            </a:r>
            <a:r>
              <a:rPr>
                <a:latin typeface="Courier"/>
              </a:rPr>
              <a:t>tests/integration/test_user_journey_e2e.py</a:t>
            </a:r>
            <a:r>
              <a:rPr/>
              <a:t> (972 lines) - Full user workflow: import dataset → run experiment → download results - Human intent captured end-to-end</a:t>
            </a:r>
          </a:p>
          <a:p>
            <a:pPr lvl="0" indent="0" marL="0">
              <a:buNone/>
            </a:pPr>
            <a:r>
              <a:rPr b="1"/>
              <a:t>Mock boundaries defined</a:t>
            </a:r>
            <a:r>
              <a:rPr/>
              <a:t> — Where to stop testing: - </a:t>
            </a:r>
            <a:r>
              <a:rPr>
                <a:latin typeface="Courier"/>
              </a:rPr>
              <a:t>testing.mdc</a:t>
            </a:r>
            <a:r>
              <a:rPr/>
              <a:t> defines integration vs unit scope - Explicit rule: “Do NOT Over-Generate Tests”</a:t>
            </a:r>
          </a:p>
          <a:p>
            <a:pPr lvl="0" indent="0" marL="0">
              <a:buNone/>
            </a:pPr>
            <a:r>
              <a:rPr b="1"/>
              <a:t>Impact</a:t>
            </a:r>
            <a:r>
              <a:rPr/>
              <a:t>: Human-written integration tests verify LLM-generated code, not vice versa → Reliability ↔ Understanding synergy.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Circular Validation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LLM-generated tests don’t validate LLM-generated code:</a:t>
            </a:r>
          </a:p>
          <a:p>
            <a:pPr lvl="0" indent="0">
              <a:buNone/>
            </a:pPr>
            <a:r>
              <a:rPr>
                <a:latin typeface="Courier"/>
              </a:rPr>
              <a:t>    ┌─────────────────────────────────────────────────────┐
    │   APPEARS TO BE:           ACTUALLY IS:             │
    │                                                     │
    │   LLM Code ──→ Tests ──→    LLM Code ←──┐           │
    │       ↑           │             ↑       │           │
    │       └───────────┘             │       │           │
    │    "Verified"                   └───────┘           │
    │                              Circular: Same         │
    │                              blind spots            │
    └─────────────────────────────────────────────────────┘
    SOLUTION: Human-authored tests (especially integration)
              break the circular dependency</a:t>
            </a:r>
          </a:p>
          <a:p>
            <a:pPr lvl="0" indent="0" marL="0">
              <a:buNone/>
            </a:pPr>
            <a:r>
              <a:rPr b="1"/>
              <a:t>The illusion:</a:t>
            </a:r>
            <a:r>
              <a:rPr/>
              <a:t> Tests pass ✓ → Code must be correct </a:t>
            </a:r>
            <a:r>
              <a:rPr b="1"/>
              <a:t>The reality:</a:t>
            </a:r>
            <a:r>
              <a:rPr/>
              <a:t> Tests verify LLM’s mental model, not your requirements</a:t>
            </a:r>
          </a:p>
          <a:p>
            <a:pPr lvl="0" indent="0" marL="0">
              <a:buNone/>
            </a:pPr>
            <a:r>
              <a:rPr b="1"/>
              <a:t>How to break it:</a:t>
            </a:r>
            <a:r>
              <a:rPr/>
              <a:t> - Write at least one comprehensive E2E test yourself - Define test boundaries before asking LLM to fill in unit tests - Use human-authored tests as the source of truth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Human Tests: Why They Build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General principle beyond IRIS:</a:t>
            </a:r>
          </a:p>
          <a:p>
            <a:pPr lvl="0" indent="0" marL="0">
              <a:buNone/>
            </a:pPr>
            <a:r>
              <a:rPr/>
              <a:t>Human-authored tests create reliability through:</a:t>
            </a:r>
          </a:p>
          <a:p>
            <a:pPr lvl="0" indent="-342900" marL="342900">
              <a:buAutoNum type="arabicPeriod"/>
            </a:pPr>
            <a:r>
              <a:rPr b="1"/>
              <a:t>Independent validation</a:t>
            </a:r>
            <a:r>
              <a:rPr/>
              <a:t> — Tests encode </a:t>
            </a:r>
            <a:r>
              <a:rPr i="1"/>
              <a:t>your</a:t>
            </a:r>
            <a:r>
              <a:rPr/>
              <a:t> understanding of correctness, not LLM’s</a:t>
            </a:r>
          </a:p>
          <a:p>
            <a:pPr lvl="0" indent="-342900" marL="342900">
              <a:buAutoNum type="arabicPeriod"/>
            </a:pPr>
            <a:r>
              <a:rPr b="1"/>
              <a:t>Requirement capture</a:t>
            </a:r>
            <a:r>
              <a:rPr/>
              <a:t> — Integration tests document intended workflow</a:t>
            </a:r>
          </a:p>
          <a:p>
            <a:pPr lvl="0" indent="-342900" marL="342900">
              <a:buAutoNum type="arabicPeriod"/>
            </a:pPr>
            <a:r>
              <a:rPr b="1"/>
              <a:t>Living documentation</a:t>
            </a:r>
            <a:r>
              <a:rPr/>
              <a:t> — Future maintainers see what “correct” means</a:t>
            </a:r>
          </a:p>
          <a:p>
            <a:pPr lvl="0" indent="0" marL="0">
              <a:buNone/>
            </a:pPr>
            <a:r>
              <a:rPr b="1"/>
              <a:t>The mechanism:</a:t>
            </a:r>
            <a:r>
              <a:rPr/>
              <a:t> - Without human tests: LLM generates code + tests from same prompt → circular - With human tests: Your test defines “correct” → LLM code must satisfy it - Result: Verified against real requirements, not inferred assumptions</a:t>
            </a:r>
          </a:p>
          <a:p>
            <a:pPr lvl="0" indent="0" marL="0">
              <a:buNone/>
            </a:pPr>
            <a:r>
              <a:rPr b="1"/>
              <a:t>Trade-off:</a:t>
            </a:r>
            <a:r>
              <a:rPr/>
              <a:t> Writing comprehensive integration tests is time-intensive.</a:t>
            </a:r>
          </a:p>
          <a:p>
            <a:pPr lvl="0" indent="0" marL="0">
              <a:buNone/>
            </a:pPr>
            <a:r>
              <a:rPr b="1"/>
              <a:t>Synergy with Understanding:</a:t>
            </a:r>
            <a:r>
              <a:rPr/>
              <a:t> Good tests serve double duty—they verify AND document.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Speed Vertex: Workflow Evolution in IRIS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IRIS 1.0 custom workflow commands:</a:t>
            </a:r>
            <a:r>
              <a:rPr/>
              <a:t> - </a:t>
            </a:r>
            <a:r>
              <a:rPr>
                <a:latin typeface="Courier"/>
              </a:rPr>
              <a:t>.cursor/commands/</a:t>
            </a:r>
            <a:r>
              <a:rPr/>
              <a:t> (5 custom commands) - </a:t>
            </a:r>
            <a:r>
              <a:rPr>
                <a:latin typeface="Courier"/>
              </a:rPr>
              <a:t>prdescription.md</a:t>
            </a:r>
            <a:r>
              <a:rPr/>
              <a:t>: Generate structured PR descriptions with LOC metrics - </a:t>
            </a:r>
            <a:r>
              <a:rPr>
                <a:latin typeface="Courier"/>
              </a:rPr>
              <a:t>verifyeventuallyfix.md</a:t>
            </a:r>
            <a:r>
              <a:rPr/>
              <a:t>: Verification-before-fix pattern</a:t>
            </a:r>
          </a:p>
          <a:p>
            <a:pPr lvl="0" indent="0" marL="0">
              <a:buNone/>
            </a:pPr>
            <a:r>
              <a:rPr b="1"/>
              <a:t>Key innovation — Verification-first:</a:t>
            </a:r>
            <a:r>
              <a:rPr/>
              <a:t> 1. Run tests → analyze failures → </a:t>
            </a:r>
            <a:r>
              <a:rPr i="1"/>
              <a:t>then</a:t>
            </a:r>
            <a:r>
              <a:rPr/>
              <a:t> ask LLM for fix 2. Prevents “solutioning trap” (jumping to implementation before understanding problem)</a:t>
            </a:r>
          </a:p>
          <a:p>
            <a:pPr lvl="0" indent="0" marL="0">
              <a:buNone/>
            </a:pPr>
            <a:r>
              <a:rPr b="1"/>
              <a:t>LOC tracking</a:t>
            </a:r>
            <a:r>
              <a:rPr/>
              <a:t> — Visibility into AI contributions: - PR descriptions include “Pure Code Added” column - Track what LLM generates vs what humans write</a:t>
            </a:r>
          </a:p>
          <a:p>
            <a:pPr lvl="0" indent="0" marL="0">
              <a:buNone/>
            </a:pPr>
            <a:r>
              <a:rPr b="1"/>
              <a:t>Evolution beyond IRIS:</a:t>
            </a:r>
            <a:r>
              <a:rPr/>
              <a:t> - These project-specific commands proved the pattern - Led to adopting GSD (Get Shit Done) workflow - Now used across multiple projects at Bloomberg</a:t>
            </a:r>
          </a:p>
          <a:p>
            <a:pPr lvl="0" indent="0" marL="0">
              <a:buNone/>
            </a:pPr>
            <a:r>
              <a:rPr b="1"/>
              <a:t>Impact</a:t>
            </a:r>
            <a:r>
              <a:rPr/>
              <a:t>: Structure enables speed </a:t>
            </a:r>
            <a:r>
              <a:rPr i="1"/>
              <a:t>with</a:t>
            </a:r>
            <a:r>
              <a:rPr/>
              <a:t> quality gates → sustainable velocity.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GSD Workflow: The Four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Systematic approach that evolved from IRIS learnings:</a:t>
            </a:r>
          </a:p>
          <a:p>
            <a:pPr lvl="0" indent="0">
              <a:buNone/>
            </a:pPr>
            <a:r>
              <a:rPr>
                <a:latin typeface="Courier"/>
              </a:rPr>
              <a:t>    ┌─────────┐    ┌─────────┐    ┌─────────┐    ┌─────────┐
    │ DISCUSS │───→│  PLAN   │───→│ EXECUTE │───→│ VERIFY  │
    └────┬────┘    └────┬────┘    └────┬────┘    └────┬────┘
         │              │              │              │
         ↓              ↓              ↓              ↓
    Align intent   Atomic tasks   Fresh context   Human gates
    + scope        + specs        windows         + tests</a:t>
            </a:r>
          </a:p>
          <a:p>
            <a:pPr lvl="0" indent="0" marL="0">
              <a:buNone/>
            </a:pPr>
            <a:r>
              <a:rPr b="1"/>
              <a:t>Each phase has specific epistemic impact:</a:t>
            </a:r>
          </a:p>
          <a:p>
            <a:pPr lvl="0" indent="-342900" marL="342900">
              <a:buAutoNum type="arabicPeriod"/>
            </a:pPr>
            <a:r>
              <a:rPr b="1"/>
              <a:t>DISCUSS</a:t>
            </a:r>
            <a:r>
              <a:rPr/>
              <a:t> — Capture decisions before planning (forces human articulation of intent)</a:t>
            </a:r>
          </a:p>
          <a:p>
            <a:pPr lvl="0" indent="-342900" marL="342900">
              <a:buAutoNum type="arabicPeriod"/>
            </a:pPr>
            <a:r>
              <a:rPr b="1"/>
              <a:t>PLAN</a:t>
            </a:r>
            <a:r>
              <a:rPr/>
              <a:t> — Create atomic task specs with verification criteria (scope management)</a:t>
            </a:r>
          </a:p>
          <a:p>
            <a:pPr lvl="0" indent="-342900" marL="342900">
              <a:buAutoNum type="arabicPeriod"/>
            </a:pPr>
            <a:r>
              <a:rPr b="1"/>
              <a:t>EXECUTE</a:t>
            </a:r>
            <a:r>
              <a:rPr/>
              <a:t> — Fresh 200k context per agent, parallel waves (prevents context amnesia)</a:t>
            </a:r>
          </a:p>
          <a:p>
            <a:pPr lvl="0" indent="-342900" marL="342900">
              <a:buAutoNum type="arabicPeriod"/>
            </a:pPr>
            <a:r>
              <a:rPr b="1"/>
              <a:t>VERIFY</a:t>
            </a:r>
            <a:r>
              <a:rPr/>
              <a:t> — Automated tests + human acceptance (breaks circular validation if tests pre-defined)</a:t>
            </a:r>
          </a:p>
          <a:p>
            <a:pPr lvl="0" indent="0" marL="0">
              <a:buNone/>
            </a:pPr>
            <a:r>
              <a:rPr b="1"/>
              <a:t>Not IRIS-specific:</a:t>
            </a:r>
            <a:r>
              <a:rPr/>
              <a:t> Applicable to any LLM-assisted development project.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GSD Mechanisms: Countering Epistemic Debt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structured workflow addresses LLM-specific problems: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GSD Solution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Context Window Amnesia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Fresh context per execution wave + persistent STATE.md artifacts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Stochastic Spaghetti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Multi-agent with single orchestrator; atomic commits enable git bisect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Circular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 checker validates BEFORE execute; verification uses predefined criteria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Scope Creep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REQUIREMENTS.md scopes v1 vs v2; atomic tasks with clear boundaries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Loss of Human Ownership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Discussion phase forces articulation; STATE.md tracks decisions; human gates between phases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pattern:</a:t>
            </a:r>
            <a:r>
              <a:rPr/>
              <a:t> Add just enough structure to maintain comprehension without killing velocity.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GSD Epistemic Impact by Phase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each phase reduces epistemic debt: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GSD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Epistemic Debt Reduction Mechanism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DISCUSS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Captures decisions </a:t>
                      </a:r>
                      <a:r>
                        <a:rPr i="1"/>
                        <a:t>before</a:t>
                      </a:r>
                      <a:r>
                        <a:rPr/>
                        <a:t> planning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Forces human articulation of intent → </a:t>
                      </a:r>
                      <a:r>
                        <a:rPr b="1"/>
                        <a:t>Understanding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PLAN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Creates atomic task specs with verification criteria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 management + testable outcomes → </a:t>
                      </a:r>
                      <a:r>
                        <a:rPr b="1"/>
                        <a:t>Both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EXECUTE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Fresh 200k context per agent, parallel waves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Prevents context amnesia, bite-sized comprehension → </a:t>
                      </a:r>
                      <a:r>
                        <a:rPr b="1"/>
                        <a:t>Understanding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VERIFY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Automated tests + human acceptance testing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Breaks circular validation if tests are pre-defined → </a:t>
                      </a:r>
                      <a:r>
                        <a:rPr b="1"/>
                        <a:t>Reliability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insight:</a:t>
            </a:r>
            <a:r>
              <a:rPr/>
              <a:t> Each phase has dual purpose—it produces output AND builds/preserves understanding.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Workflow doesn’t just ship code—it maintains epistemic credit throughout development.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Workflow Enables Lower-Triangle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Without structured workflow: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UNDERSTANDING
                           ▲
                          /·\
                         /···\
                        / Pure \
                       / Vibe   \
                      /  Zone    \
                     /────────────\  ← Accessible without workflow
                    /              \
                   /    UNSAFE      \
                  /      ZONE        \
                 /    (High debt)     \
                ▼──────────────────────▼
              SPEED              RELIABILITY</a:t>
            </a:r>
          </a:p>
          <a:p>
            <a:pPr lvl="0" indent="0" marL="0">
              <a:buNone/>
            </a:pPr>
            <a:r>
              <a:rPr b="1"/>
              <a:t>With structured workflow (GSD):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UNDERSTANDING
                           ▲
                          /·\
                         /···\
                        / ··· \
                       / ····· \
                      /  Pure   \
                     /   Vibe    \
                    /    Zone     \
                   /───────────────\
                  /                 \
                 /   ┌───────────┐   \
                /    │ ACCESSIBLE │   \  ← Workflow makes this
               /     │   WITH     │    \    zone reachable
              /      │ WORKFLOW   │     \
             /       └───────────┘      \
            ▼──────────────────────────▼
          SPEED                    RELIABILITY</a:t>
            </a:r>
          </a:p>
          <a:p>
            <a:pPr lvl="0" indent="0" marL="0">
              <a:buNone/>
            </a:pPr>
            <a:r>
              <a:rPr b="1"/>
              <a:t>The shift:</a:t>
            </a:r>
            <a:r>
              <a:rPr/>
              <a:t> Structure enables high Speed + Understanding + Reliability simultaneously through: - Parallelization (multiple agents working concurrently) - Pre-computed plans (no planning during execution) - Fresh contexts (no cognitive overload accumulation)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Multi-AI Context Sync (IRIS Meta Practice)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Using multiple AI tools (Claude, Cursor) creates context divergence - Change captured in Claude → not visible to Cursor - Cursor learns new pattern → Claude doesn’t know about it - Result: Inconsistent suggestions, duplicated explanations, epistemic drift</a:t>
            </a:r>
          </a:p>
          <a:p>
            <a:pPr lvl="0" indent="0" marL="0">
              <a:buNone/>
            </a:pPr>
            <a:r>
              <a:rPr b="1"/>
              <a:t>The IRIS solution:</a:t>
            </a:r>
            <a:r>
              <a:rPr/>
              <a:t> </a:t>
            </a:r>
            <a:r>
              <a:rPr>
                <a:latin typeface="Courier"/>
              </a:rPr>
              <a:t>scripts/sync-ai-instructions.sh</a:t>
            </a:r>
            <a:r>
              <a:rPr/>
              <a:t> - Synchronizes </a:t>
            </a:r>
            <a:r>
              <a:rPr>
                <a:latin typeface="Courier"/>
              </a:rPr>
              <a:t>.cursor/rules/</a:t>
            </a:r>
            <a:r>
              <a:rPr/>
              <a:t> with Claude’s context files - Keeps domain boundaries aligned across tools - Updates happen automatically on context changes</a:t>
            </a:r>
          </a:p>
          <a:p>
            <a:pPr lvl="0" indent="0" marL="0">
              <a:buNone/>
            </a:pPr>
            <a:r>
              <a:rPr b="1"/>
              <a:t>Why this matters for the triangle:</a:t>
            </a:r>
            <a:r>
              <a:rPr/>
              <a:t> - </a:t>
            </a:r>
            <a:r>
              <a:rPr b="1"/>
              <a:t>Understanding:</a:t>
            </a:r>
            <a:r>
              <a:rPr/>
              <a:t> Consistent domain language across all AI interactions - </a:t>
            </a:r>
            <a:r>
              <a:rPr b="1"/>
              <a:t>Reliability:</a:t>
            </a:r>
            <a:r>
              <a:rPr/>
              <a:t> Both tools validate against same business rules - </a:t>
            </a:r>
            <a:r>
              <a:rPr b="1"/>
              <a:t>Speed:</a:t>
            </a:r>
            <a:r>
              <a:rPr/>
              <a:t> No need to re-explain context to each tool</a:t>
            </a:r>
          </a:p>
          <a:p>
            <a:pPr lvl="0" indent="0" marL="0">
              <a:buNone/>
            </a:pPr>
            <a:r>
              <a:rPr b="1"/>
              <a:t>Meta insight:</a:t>
            </a:r>
            <a:r>
              <a:rPr/>
              <a:t> When using multiple AIs, synchronize their worldview—otherwise you’re managing N different mental models instead of one.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Domain-Based Strategy Selection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 all code deserves equal epistemic investment: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Acceptable 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Required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Rationale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Core</a:t>
                      </a:r>
                      <a:r>
                        <a:rPr/>
                        <a:t> (competitive advantage)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Bottom center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DDD + TDD + Human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Errors have highest business impact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Supporting</a:t>
                      </a:r>
                      <a:r>
                        <a:rPr/>
                        <a:t> (enables core)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Mid-triangle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 least one of DDD or TDD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 speed with some guardrails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Generic</a:t>
                      </a:r>
                      <a:r>
                        <a:rPr/>
                        <a:t> (commodity)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Upper-triangle OK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Minimal or 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Speed may outweigh deep understanding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Mapping to DDD’s subdomain classification:</a:t>
            </a:r>
            <a:r>
              <a:rPr/>
              <a:t> - Core subdomain → Lower triangle (high Understanding + Reliability) - Supporting subdomain → Mid triangle (balance) - Generic subdomain → Upper triangle (Speed acceptable)</a:t>
            </a:r>
          </a:p>
          <a:p>
            <a:pPr lvl="0" indent="0" marL="0">
              <a:buNone/>
            </a:pPr>
            <a:r>
              <a:rPr b="1"/>
              <a:t>IRIS example:</a:t>
            </a:r>
            <a:r>
              <a:rPr/>
              <a:t> - Core: Experiment execution logic → DDD + E2E tests - Supporting: CLI commands → Workflow structure only - Generic: Utility functions → Let LLM generate freely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Conscious Choice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Epistemic debt, like technical debt, can be a deliberate trade-off.</a:t>
            </a:r>
          </a:p>
          <a:p>
            <a:pPr lvl="0" indent="0" marL="0">
              <a:buNone/>
            </a:pPr>
            <a:r>
              <a:rPr b="1"/>
              <a:t>When epistemic debt is acceptable:</a:t>
            </a:r>
            <a:r>
              <a:rPr/>
              <a:t> - Generic domains (authentication wrappers, CRUD boilerplate) - Prototype/exploration phases - Code with short expected lifespan - Low business impact areas</a:t>
            </a:r>
          </a:p>
          <a:p>
            <a:pPr lvl="0" indent="0" marL="0">
              <a:buNone/>
            </a:pPr>
            <a:r>
              <a:rPr b="1"/>
              <a:t>When epistemic debt is critical risk:</a:t>
            </a:r>
            <a:r>
              <a:rPr/>
              <a:t> - Core business logic - Security-sensitive code - Long-lived systems - Code that others will maintain</a:t>
            </a:r>
          </a:p>
          <a:p>
            <a:pPr lvl="0" indent="0" marL="0">
              <a:buNone/>
            </a:pPr>
            <a:r>
              <a:rPr b="1"/>
              <a:t>The triangle provides visual language for these conversations:</a:t>
            </a:r>
            <a:r>
              <a:rPr/>
              <a:t> - “We’re operating upper-triangle on this module—Speed priority, accept the epistemic debt” - “This is core domain—we need lower-triangle positioning” - “Let’s move this to mid-triangle by adding DDD context”</a:t>
            </a:r>
          </a:p>
          <a:p>
            <a:pPr lvl="0" indent="0" marL="0">
              <a:buNone/>
            </a:pPr>
            <a:r>
              <a:rPr b="1"/>
              <a:t>Key question:</a:t>
            </a:r>
            <a:r>
              <a:rPr/>
              <a:t> Not “how do we eliminate epistemic debt?” but “where is it acceptable and where is it dangerous?”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Conscious positioning on the Speed/Understanding/Reliability triangle:</a:t>
            </a:r>
          </a:p>
          <a:p>
            <a:pPr lvl="0" indent="-342900" marL="342900">
              <a:buAutoNum type="arabicPeriod"/>
            </a:pPr>
            <a:r>
              <a:rPr b="1"/>
              <a:t>Bounded contexts build Understanding</a:t>
            </a:r>
            <a:r>
              <a:rPr/>
              <a:t> — Glob-activated DDD context files (</a:t>
            </a:r>
            <a:r>
              <a:rPr>
                <a:latin typeface="Courier"/>
              </a:rPr>
              <a:t>.cursor/rules/*.mdc</a:t>
            </a:r>
            <a:r>
              <a:rPr/>
              <a:t>) ensure LLM output aligns with domain boundaries. IRIS: 5 bounded contexts with business rules. </a:t>
            </a:r>
            <a:r>
              <a:rPr i="1"/>
              <a:t>Pull: Understanding vertex.</a:t>
            </a:r>
          </a:p>
          <a:p>
            <a:pPr lvl="0" indent="-342900" marL="342900">
              <a:buAutoNum type="arabicPeriod"/>
            </a:pPr>
            <a:r>
              <a:rPr b="1"/>
              <a:t>Human E2E tests build Reliability</a:t>
            </a:r>
            <a:r>
              <a:rPr/>
              <a:t> — One comprehensive integration test (</a:t>
            </a:r>
            <a:r>
              <a:rPr>
                <a:latin typeface="Courier"/>
              </a:rPr>
              <a:t>test_user_journey_e2e.py</a:t>
            </a:r>
            <a:r>
              <a:rPr/>
              <a:t>, 972 lines) validates LLM-generated code against real user workflow, breaking circular validation. </a:t>
            </a:r>
            <a:r>
              <a:rPr i="1"/>
              <a:t>Pull: Reliability. Synergy: Understanding through living documentation.</a:t>
            </a:r>
          </a:p>
          <a:p>
            <a:pPr lvl="0" indent="-342900" marL="342900">
              <a:buAutoNum type="arabicPeriod"/>
            </a:pPr>
            <a:r>
              <a:rPr b="1"/>
              <a:t>Structured workflow enables Speed</a:t>
            </a:r>
            <a:r>
              <a:rPr/>
              <a:t> — Verification-before-fix pattern + GSD phases prevent solutioning trap while maintaining velocity. IRIS: 5K LOC/week with &gt;85% coverage. </a:t>
            </a:r>
            <a:r>
              <a:rPr i="1"/>
              <a:t>Pull: Speed with quality gates.</a:t>
            </a:r>
          </a:p>
          <a:p>
            <a:pPr lvl="0" indent="-342900" marL="342900">
              <a:buAutoNum type="arabicPeriod"/>
            </a:pPr>
            <a:r>
              <a:rPr b="1"/>
              <a:t>Multi-AI sync amplifies all</a:t>
            </a:r>
            <a:r>
              <a:rPr/>
              <a:t> — When using multiple AI tools (Claude, Cursor), synchronize their context (</a:t>
            </a:r>
            <a:r>
              <a:rPr>
                <a:latin typeface="Courier"/>
              </a:rPr>
              <a:t>sync-ai-instructions.sh</a:t>
            </a:r>
            <a:r>
              <a:rPr/>
              <a:t>) to prevent divergence. </a:t>
            </a:r>
            <a:r>
              <a:rPr i="1"/>
              <a:t>Amplifies all vertices.</a:t>
            </a:r>
          </a:p>
          <a:p>
            <a:pPr lvl="0" indent="-342900" marL="342900">
              <a:buAutoNum type="arabicPeriod"/>
            </a:pPr>
            <a:r>
              <a:rPr b="1"/>
              <a:t>Choose your position deliberately</a:t>
            </a:r>
            <a:r>
              <a:rPr/>
              <a:t> — Map domains to triangle positions: Core → lower triangle (Understanding + Reliability), Generic → upper triangle (Speed). </a:t>
            </a:r>
            <a:r>
              <a:rPr b="1"/>
              <a:t>Trade-offs are real—make them conscious.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Epistemic Debt Definition:</a:t>
            </a:r>
            <a:r>
              <a:rPr/>
              <a:t> - Ngabang, L.A. (2026). “The Illusion of Competence: Defining ‘Epistemic Debt’ in the Era of LLM-Assisted Software Engineering.” </a:t>
            </a:r>
            <a:r>
              <a:rPr i="1"/>
              <a:t>ViXra</a:t>
            </a:r>
            <a:r>
              <a:rPr/>
              <a:t>, January 2. https://vixra.org/pdf/2601.0013v1.pdf - Defines epistemic debt as De = ∫(Cs(t) - Gc(t))dt - Proposes “Cognitive Ratchet” methodology</a:t>
            </a:r>
          </a:p>
          <a:p>
            <a:pPr lvl="0" indent="0" marL="0">
              <a:buNone/>
            </a:pPr>
            <a:r>
              <a:rPr b="1"/>
              <a:t>Related work on epistemic debt:</a:t>
            </a:r>
            <a:r>
              <a:rPr/>
              <a:t> - Ionescu, T.B., Schlund, S., Schmidbauer, C. (2020). “Epistemic Debt: A Concept and Measure of Technical Ignorance in Smart Manufacturing.” </a:t>
            </a:r>
            <a:r>
              <a:rPr i="1"/>
              <a:t>Springer</a:t>
            </a:r>
            <a:r>
              <a:rPr/>
              <a:t>. - “Epistemic Opacity, Confirmation Holism and Technical Debt: Computer Simulation in the Light of Empirical Software Engineering.” </a:t>
            </a:r>
            <a:r>
              <a:rPr i="1"/>
              <a:t>Springer</a:t>
            </a:r>
            <a:r>
              <a:rPr/>
              <a:t>. - Codemanship. “Comprehension Debt: The Ticking Time Bomb of LLM-Generated Code.” https://codemanship.wordpress.com/2025/09/30/</a:t>
            </a:r>
          </a:p>
          <a:p>
            <a:pPr lvl="0" indent="0" marL="0">
              <a:buNone/>
            </a:pPr>
            <a:r>
              <a:rPr b="1"/>
              <a:t>IRIS project context:</a:t>
            </a:r>
            <a:r>
              <a:rPr/>
              <a:t> - Internal Bloomberg IRIS 1.0 deployment metrics and practices - Get Shit Done (GSD) workflow documentation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Trade-offs in LLM-Assisted Development: IRIS Learnings</dc:title>
  <dc:creator/>
  <cp:keywords/>
  <dcterms:created xsi:type="dcterms:W3CDTF">2026-01-28T20:43:30Z</dcterms:created>
  <dcterms:modified xsi:type="dcterms:W3CDTF">2026-01-28T20:43:30Z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